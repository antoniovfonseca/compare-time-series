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8D50-5E72-4620-B621-A5193E99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BF03D-7A7B-4769-B2BF-2F48E331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C83C-D62B-402F-A766-3089C2ED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D698-4105-4BF7-91FD-DBC685CA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8F3B3-DEF3-456E-8232-CDCBB0B2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7FDA-9F6E-40C1-BDE4-01097641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1CC6B-F986-465F-8ABF-43264F71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627FF-8941-44CF-8097-F9B9657C6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72DB-0FE8-4FF3-8E7F-7FDA1645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F1E1F-9838-4842-A9DA-74CD3136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8AA9-0420-45FE-8487-388F9C661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7E189-3294-447E-8D76-54B5FDEA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5C18C-C6D3-4BA9-B4A2-2739A184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EE3AD-1DE9-4BF3-9080-63C040C9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D69D-1602-4F3F-A4E4-165C0D5C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069-BDEA-4140-9DCA-03845C0E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6500B-14E7-4F26-AF8F-68D1462B0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5B315-EB3E-4452-B3AF-7A8D6644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47A03-BBC7-4A34-B53E-6F04780E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C44E-853C-4EB1-8484-4234DBC7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4C5E3-0B91-4B31-85A6-7FB9B8FD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8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1823-18A5-42D4-85B0-E75FF72A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A133-7F3A-4A77-B54E-15A49181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56A32-B4DC-4659-8A45-1FACAF8AE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B0F3D-D518-4D48-85A5-01FBBA64F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AB5FA-D95C-4C40-99AF-F6F19CC81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922A4-3EA8-4276-AB86-B200392D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3CFFC-16EC-4277-B221-523E7459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FFA51-E241-49E2-AC93-09D2E4D6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E562-0522-4B5A-BB70-2E8F46FF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04095-54AB-4C59-A93E-4DBF1166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E0808-9254-41D6-B42E-0BF6902A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43E2B-BD41-4DFF-AF85-27EA68D9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96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C8CDB-5428-4E10-B5A0-E85C5B31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38CE7-81F6-405F-9850-C033250F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E45C2-E1B5-4DB1-8D03-DBC894BB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EE3E-363D-46AD-BEB7-4481123C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07E4-C302-433D-ACF1-5CA6886B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2355-E014-461A-AFCC-04E284B8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2AB58-8130-4C39-A951-E5AF70A8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49F41-78F1-42CE-A358-31AF93B2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B896E-102E-4E8D-92FC-2F4DEB8D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1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3AC5-FF6B-4C37-8D70-4F3DDB6E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D5CDD-7349-4FF5-81E1-B22930FAD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AA49D-99FE-440F-84D5-D31F0EB7D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76F7E-DB76-4CE2-8C75-76F69A63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1949-4F64-4FFB-9531-603C080A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576BF-9467-44E1-81D2-0B77B2B4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98C5-3CF6-460B-AEE9-FEF870AF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E88C-B550-42C2-B4D5-BAE13B5A6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EF4B-3786-426F-B38A-24027410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3CC35-4CAC-4CE4-83B2-D6BC7E12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FA440-FFCB-4008-9693-3EB2DC79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6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4611D-E565-476E-A9F6-A9345AC29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7EBBE-95F8-42C7-83FF-7A60147B1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13ACD-52F1-406C-B7B2-11F33210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9929-D59A-4401-8E91-58E434F0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5BE5-B117-4AE2-A73E-11D19E5E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ACEF2-6A7E-4EA4-AC3D-ADEF2737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3F5E-0017-448C-AD03-53096965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B2C6-9AE2-45A5-86A4-9009ACC5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DA384-6147-40AB-A8ED-48B4263735E0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21BB4-06A7-4136-B7B5-6852F3527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8CDD-2A8C-4FE4-960A-FFCFAA9D6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A890A-CD79-444B-A659-F9E081EBC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38C031-7F7E-4EE9-AA24-91F792F8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29" y="3921370"/>
            <a:ext cx="5454571" cy="254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FDBF5-E642-40C6-88A4-1C46F547F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87" y="184637"/>
            <a:ext cx="5139104" cy="2936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F05E6-B080-4F8D-8007-4D6DCCFA0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926" y="2799565"/>
            <a:ext cx="4337357" cy="3821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18943F-2869-4C70-B809-01A76B91B228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2594AE-1B64-429E-B303-6090FC7708A0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4533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6E50E1-F8A5-4FA5-8D8C-A7A469AFE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3" y="572130"/>
            <a:ext cx="5840017" cy="33371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CFE05F-F2C9-4675-AB0C-65E1FD6362CD}"/>
                  </a:ext>
                </a:extLst>
              </p:cNvPr>
              <p:cNvSpPr txBox="1"/>
              <p:nvPr/>
            </p:nvSpPr>
            <p:spPr>
              <a:xfrm>
                <a:off x="5964480" y="615986"/>
                <a:ext cx="6097464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Eq 8</a:t>
                </a:r>
                <a:r>
                  <a:rPr lang="de-DE" b="1" dirty="0"/>
                  <a:t>: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𝑃h</m:t>
                    </m:r>
                    <m:r>
                      <a:rPr lang="en-US" sz="18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𝑃h</m:t>
                                </m:r>
                              </m:e>
                              <m: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𝑡𝑛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sz="18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𝑃h</m:t>
                            </m:r>
                          </m:e>
                          <m:sub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CFE05F-F2C9-4675-AB0C-65E1FD636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80" y="615986"/>
                <a:ext cx="6097464" cy="374911"/>
              </a:xfrm>
              <a:prstGeom prst="rect">
                <a:avLst/>
              </a:prstGeom>
              <a:blipFill>
                <a:blip r:embed="rId3"/>
                <a:stretch>
                  <a:fillRect l="-799" t="-116129" b="-180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1A540A-ECFE-495B-9304-AC6A1426EA1E}"/>
                  </a:ext>
                </a:extLst>
              </p:cNvPr>
              <p:cNvSpPr txBox="1"/>
              <p:nvPr/>
            </p:nvSpPr>
            <p:spPr>
              <a:xfrm>
                <a:off x="5964480" y="1269548"/>
                <a:ext cx="6097464" cy="387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Eq 9</a:t>
                </a:r>
                <a:r>
                  <a:rPr lang="de-DE" b="1" dirty="0"/>
                  <a:t>: </a:t>
                </a:r>
                <a14:m>
                  <m:oMath xmlns:m="http://schemas.openxmlformats.org/officeDocument/2006/math">
                    <m:r>
                      <a:rPr lang="en-US" i="1"/>
                      <m:t>𝑃𝑢</m:t>
                    </m:r>
                    <m:r>
                      <a:rPr lang="en-US" i="1"/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/>
                        </m:ctrlPr>
                      </m:naryPr>
                      <m:sub>
                        <m:r>
                          <a:rPr lang="en-US" i="1"/>
                          <m:t>𝑡</m:t>
                        </m:r>
                        <m:r>
                          <a:rPr lang="en-US" i="1"/>
                          <m:t>=0</m:t>
                        </m:r>
                      </m:sub>
                      <m:sup>
                        <m:r>
                          <a:rPr lang="en-US" i="1"/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𝑃𝑢</m:t>
                            </m:r>
                          </m:e>
                          <m:sub>
                            <m:r>
                              <a:rPr lang="en-US" i="1"/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1A540A-ECFE-495B-9304-AC6A1426E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80" y="1269548"/>
                <a:ext cx="6097464" cy="387222"/>
              </a:xfrm>
              <a:prstGeom prst="rect">
                <a:avLst/>
              </a:prstGeom>
              <a:blipFill>
                <a:blip r:embed="rId4"/>
                <a:stretch>
                  <a:fillRect l="-799" t="-109375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23AE4-055C-45A1-AF03-855D33B79D47}"/>
                  </a:ext>
                </a:extLst>
              </p:cNvPr>
              <p:cNvSpPr txBox="1"/>
              <p:nvPr/>
            </p:nvSpPr>
            <p:spPr>
              <a:xfrm>
                <a:off x="5964480" y="1935421"/>
                <a:ext cx="6097464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Eq 10</a:t>
                </a:r>
                <a:r>
                  <a:rPr lang="de-DE" b="1" dirty="0"/>
                  <a:t>: </a:t>
                </a:r>
                <a14:m>
                  <m:oMath xmlns:m="http://schemas.openxmlformats.org/officeDocument/2006/math">
                    <m:r>
                      <a:rPr lang="en-US" i="1"/>
                      <m:t>𝑃𝑣</m:t>
                    </m:r>
                    <m:r>
                      <a:rPr lang="en-US" i="1"/>
                      <m:t>=</m:t>
                    </m:r>
                    <m:r>
                      <m:rPr>
                        <m:sty m:val="p"/>
                      </m:rPr>
                      <a:rPr lang="en-US"/>
                      <m:t>MINIMUM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US" i="1"/>
                            </m:ctrlPr>
                          </m:naryPr>
                          <m:sub>
                            <m:r>
                              <a:rPr lang="en-US" i="1"/>
                              <m:t>𝑡</m:t>
                            </m:r>
                            <m:r>
                              <a:rPr lang="en-US" i="1"/>
                              <m:t>=0</m:t>
                            </m:r>
                          </m:sub>
                          <m:sup>
                            <m:r>
                              <a:rPr lang="en-US" i="1"/>
                              <m:t>𝑇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/>
                                </m:ctrlPr>
                              </m:naryPr>
                              <m:sub>
                                <m:r>
                                  <a:rPr lang="en-US" i="1"/>
                                  <m:t>𝑛</m:t>
                                </m:r>
                                <m:r>
                                  <a:rPr lang="en-US" i="1"/>
                                  <m:t>=1</m:t>
                                </m:r>
                              </m:sub>
                              <m:sup>
                                <m:r>
                                  <a:rPr lang="en-US" i="1"/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𝑃𝑥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𝑡𝑛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  <m:r>
                          <a:rPr lang="en-US" i="1"/>
                          <m:t>,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i="1"/>
                            </m:ctrlPr>
                          </m:naryPr>
                          <m:sub>
                            <m:r>
                              <a:rPr lang="en-US" i="1"/>
                              <m:t>𝑡</m:t>
                            </m:r>
                            <m:r>
                              <a:rPr lang="en-US" i="1"/>
                              <m:t>=0</m:t>
                            </m:r>
                          </m:sub>
                          <m:sup>
                            <m:r>
                              <a:rPr lang="en-US" i="1"/>
                              <m:t>𝑇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/>
                                </m:ctrlPr>
                              </m:naryPr>
                              <m:sub>
                                <m:r>
                                  <a:rPr lang="en-US" i="1"/>
                                  <m:t>𝑛</m:t>
                                </m:r>
                                <m:r>
                                  <a:rPr lang="en-US" i="1"/>
                                  <m:t>=1</m:t>
                                </m:r>
                              </m:sub>
                              <m:sup>
                                <m:r>
                                  <a:rPr lang="en-US" i="1"/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/>
                                    </m:ctrlPr>
                                  </m:sSubPr>
                                  <m:e>
                                    <m:r>
                                      <a:rPr lang="en-US" i="1"/>
                                      <m:t>𝑃𝑦</m:t>
                                    </m:r>
                                  </m:e>
                                  <m:sub>
                                    <m:r>
                                      <a:rPr lang="en-US" i="1"/>
                                      <m:t>𝑡𝑛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  <m:r>
                      <a:rPr lang="en-US" i="1"/>
                      <m:t>−</m:t>
                    </m:r>
                    <m:r>
                      <a:rPr lang="en-US" i="1"/>
                      <m:t>𝑃h</m:t>
                    </m:r>
                    <m:r>
                      <a:rPr lang="en-US" i="1"/>
                      <m:t>−</m:t>
                    </m:r>
                    <m:r>
                      <a:rPr lang="en-US" i="1"/>
                      <m:t>𝑃𝑢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23AE4-055C-45A1-AF03-855D33B79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80" y="1935421"/>
                <a:ext cx="6097464" cy="681982"/>
              </a:xfrm>
              <a:prstGeom prst="rect">
                <a:avLst/>
              </a:prstGeom>
              <a:blipFill>
                <a:blip r:embed="rId5"/>
                <a:stretch>
                  <a:fillRect l="-799" t="-61607" b="-58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F9AD00-E6E3-46E1-ACB3-2718CB5DF36C}"/>
                  </a:ext>
                </a:extLst>
              </p:cNvPr>
              <p:cNvSpPr txBox="1"/>
              <p:nvPr/>
            </p:nvSpPr>
            <p:spPr>
              <a:xfrm>
                <a:off x="5975927" y="2896054"/>
                <a:ext cx="6097464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Eq 11</a:t>
                </a:r>
                <a:r>
                  <a:rPr lang="de-DE" b="1" dirty="0"/>
                  <a:t>: </a:t>
                </a:r>
                <a14:m>
                  <m:oMath xmlns:m="http://schemas.openxmlformats.org/officeDocument/2006/math">
                    <m:r>
                      <a:rPr lang="en-US" i="1"/>
                      <m:t>𝑃𝑓</m:t>
                    </m:r>
                    <m:r>
                      <a:rPr lang="en-US" i="1"/>
                      <m:t>=</m:t>
                    </m:r>
                    <m:r>
                      <m:rPr>
                        <m:sty m:val="p"/>
                      </m:rPr>
                      <a:rPr lang="en-US"/>
                      <m:t>MAXIMUM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0,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i="1"/>
                            </m:ctrlPr>
                          </m:naryPr>
                          <m:sub>
                            <m:r>
                              <a:rPr lang="en-US" i="1"/>
                              <m:t>𝑡</m:t>
                            </m:r>
                            <m:r>
                              <a:rPr lang="en-US" i="1"/>
                              <m:t>=0</m:t>
                            </m:r>
                          </m:sub>
                          <m:sup>
                            <m:r>
                              <a:rPr lang="en-US" i="1"/>
                              <m:t>𝑇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/>
                                </m:ctrlPr>
                              </m:naryPr>
                              <m:sub>
                                <m:r>
                                  <a:rPr lang="en-US" i="1"/>
                                  <m:t>𝑛</m:t>
                                </m:r>
                                <m:r>
                                  <a:rPr lang="en-US" i="1"/>
                                  <m:t>=1</m:t>
                                </m:r>
                              </m:sub>
                              <m:sup>
                                <m:r>
                                  <a:rPr lang="en-US" i="1"/>
                                  <m:t>𝑁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/>
                                        </m:ctrlPr>
                                      </m:sSubPr>
                                      <m:e>
                                        <m:r>
                                          <a:rPr lang="en-US" i="1"/>
                                          <m:t>𝑃𝑦</m:t>
                                        </m:r>
                                      </m:e>
                                      <m:sub>
                                        <m:r>
                                          <a:rPr lang="en-US" i="1"/>
                                          <m:t>𝑡𝑛</m:t>
                                        </m:r>
                                      </m:sub>
                                    </m:sSub>
                                    <m:r>
                                      <a:rPr lang="en-US" i="1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/>
                                        </m:ctrlPr>
                                      </m:sSubPr>
                                      <m:e>
                                        <m:r>
                                          <a:rPr lang="en-US" i="1"/>
                                          <m:t>𝑃𝑥</m:t>
                                        </m:r>
                                      </m:e>
                                      <m:sub>
                                        <m:r>
                                          <a:rPr lang="en-US" i="1"/>
                                          <m:t>𝑡𝑛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F9AD00-E6E3-46E1-ACB3-2718CB5DF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927" y="2896054"/>
                <a:ext cx="6097464" cy="404983"/>
              </a:xfrm>
              <a:prstGeom prst="rect">
                <a:avLst/>
              </a:prstGeom>
              <a:blipFill>
                <a:blip r:embed="rId6"/>
                <a:stretch>
                  <a:fillRect l="-799" t="-102985" b="-164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4C47-13A4-4376-A633-B560D59161C4}"/>
                  </a:ext>
                </a:extLst>
              </p:cNvPr>
              <p:cNvSpPr txBox="1"/>
              <p:nvPr/>
            </p:nvSpPr>
            <p:spPr>
              <a:xfrm>
                <a:off x="5975927" y="3582001"/>
                <a:ext cx="6097464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/>
                  <a:t>Eq 12</a:t>
                </a:r>
                <a:r>
                  <a:rPr lang="de-DE" b="1" dirty="0"/>
                  <a:t>: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𝑃𝑚</m:t>
                    </m:r>
                    <m:r>
                      <a:rPr lang="en-US" sz="18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MAXIMUM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8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18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p>
                              <m:e>
                                <m:d>
                                  <m:dPr>
                                    <m:ctrlP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𝑃𝑥</m:t>
                                        </m:r>
                                      </m:e>
                                      <m:sub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𝑡𝑛</m:t>
                                        </m:r>
                                      </m:sub>
                                    </m:sSub>
                                    <m:r>
                                      <a:rPr lang="en-US" sz="18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𝑃𝑦</m:t>
                                        </m:r>
                                      </m:e>
                                      <m:sub>
                                        <m:r>
                                          <a:rPr lang="en-US" sz="18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14C47-13A4-4376-A633-B560D5916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927" y="3582001"/>
                <a:ext cx="6097464" cy="374911"/>
              </a:xfrm>
              <a:prstGeom prst="rect">
                <a:avLst/>
              </a:prstGeom>
              <a:blipFill>
                <a:blip r:embed="rId7"/>
                <a:stretch>
                  <a:fillRect l="-799" t="-118033" b="-185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A7F648-2AA0-4AA8-B595-58545171C9AE}"/>
              </a:ext>
            </a:extLst>
          </p:cNvPr>
          <p:cNvSpPr txBox="1"/>
          <p:nvPr/>
        </p:nvSpPr>
        <p:spPr>
          <a:xfrm>
            <a:off x="745147" y="4314779"/>
            <a:ext cx="104386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 (Eq. 8):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the hits across time points to measure agreement in presence.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DB0B3-27B9-4F9B-A984-0A155FDC514B}"/>
              </a:ext>
            </a:extLst>
          </p:cNvPr>
          <p:cNvSpPr txBox="1"/>
          <p:nvPr/>
        </p:nvSpPr>
        <p:spPr>
          <a:xfrm>
            <a:off x="745146" y="4734643"/>
            <a:ext cx="11309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Difference (Eq. 9):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the space difference across time points to measure disagreement in spatial allocation.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FB44FA-ECD8-4B58-8770-D31227F9DAF3}"/>
                  </a:ext>
                </a:extLst>
              </p:cNvPr>
              <p:cNvSpPr txBox="1"/>
              <p:nvPr/>
            </p:nvSpPr>
            <p:spPr>
              <a:xfrm>
                <a:off x="745145" y="5203539"/>
                <a:ext cx="11309107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Difference (Eq. 10):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Take the MINIMUM of the summed totals of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𝑃𝑦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​; subtract Hit(Sum) and Space Difference(Sum) to measure temporal allocation disagreement.</a:t>
                </a: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FB44FA-ECD8-4B58-8770-D31227F9D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45" y="5203539"/>
                <a:ext cx="11309107" cy="1077218"/>
              </a:xfrm>
              <a:prstGeom prst="rect">
                <a:avLst/>
              </a:prstGeom>
              <a:blipFill>
                <a:blip r:embed="rId8"/>
                <a:stretch>
                  <a:fillRect l="-270" t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26661-66A8-4C5C-8BC1-C89B60DD45B5}"/>
                  </a:ext>
                </a:extLst>
              </p:cNvPr>
              <p:cNvSpPr txBox="1"/>
              <p:nvPr/>
            </p:nvSpPr>
            <p:spPr>
              <a:xfrm>
                <a:off x="745146" y="5852047"/>
                <a:ext cx="108519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y&gt;x — False Alarm (Eq. 11):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MAXIMUM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measure where the summed presence of y exceeds that of x.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A26661-66A8-4C5C-8BC1-C89B60DD4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46" y="5852047"/>
                <a:ext cx="10851908" cy="338554"/>
              </a:xfrm>
              <a:prstGeom prst="rect">
                <a:avLst/>
              </a:prstGeom>
              <a:blipFill>
                <a:blip r:embed="rId9"/>
                <a:stretch>
                  <a:fillRect l="-28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5DA24B8-73F9-4687-AF58-1BB4D5B5A22E}"/>
              </a:ext>
            </a:extLst>
          </p:cNvPr>
          <p:cNvSpPr txBox="1"/>
          <p:nvPr/>
        </p:nvSpPr>
        <p:spPr>
          <a:xfrm>
            <a:off x="745146" y="6271911"/>
            <a:ext cx="11121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x&gt;y — Miss (Eq. 12):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to measure where the summed presence of x exceeds that of y.</a:t>
            </a:r>
          </a:p>
        </p:txBody>
      </p:sp>
    </p:spTree>
    <p:extLst>
      <p:ext uri="{BB962C8B-B14F-4D97-AF65-F5344CB8AC3E}">
        <p14:creationId xmlns:p14="http://schemas.microsoft.com/office/powerpoint/2010/main" val="993861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76E3A-FE83-4BF7-A398-3893FF4B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974122"/>
            <a:ext cx="6534765" cy="2883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FBB31-0E1E-49EB-B7F1-CC2D5EFD3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39" y="114833"/>
            <a:ext cx="4829561" cy="31998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1CC0E6-6923-4565-AB0B-6ADA1C416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7" y="3634791"/>
            <a:ext cx="5256384" cy="30896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AE7AE8-C11F-48E1-AF75-29758B3F2EA0}"/>
              </a:ext>
            </a:extLst>
          </p:cNvPr>
          <p:cNvSpPr txBox="1"/>
          <p:nvPr/>
        </p:nvSpPr>
        <p:spPr>
          <a:xfrm>
            <a:off x="10676446" y="2561489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B7D4EA-B4F4-4A11-8820-7A490423BF9D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DA917-8BA1-4629-9492-6EAA232A0AF2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67000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43D2E-C7D8-48C2-A73A-449992ADC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9" y="70339"/>
            <a:ext cx="5407709" cy="3613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7A9796-343E-4AB6-9F57-67F987DA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9" y="4048707"/>
            <a:ext cx="6935466" cy="2579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48F34-FDE2-488F-8549-A6E75B385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35" y="4048707"/>
            <a:ext cx="4921865" cy="2579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54A85-94CD-4F15-902D-90A59F0D6DD1}"/>
              </a:ext>
            </a:extLst>
          </p:cNvPr>
          <p:cNvSpPr txBox="1"/>
          <p:nvPr/>
        </p:nvSpPr>
        <p:spPr>
          <a:xfrm>
            <a:off x="10377507" y="2579073"/>
            <a:ext cx="16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time difference component should be in the legend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74CF5-891E-48E9-A7DE-139C02E470E9}"/>
              </a:ext>
            </a:extLst>
          </p:cNvPr>
          <p:cNvSpPr txBox="1"/>
          <p:nvPr/>
        </p:nvSpPr>
        <p:spPr>
          <a:xfrm>
            <a:off x="4457701" y="184637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DAD61-72F8-4C4E-A22A-325C0F554338}"/>
              </a:ext>
            </a:extLst>
          </p:cNvPr>
          <p:cNvSpPr txBox="1"/>
          <p:nvPr/>
        </p:nvSpPr>
        <p:spPr>
          <a:xfrm>
            <a:off x="4457701" y="3106668"/>
            <a:ext cx="153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version</a:t>
            </a:r>
          </a:p>
        </p:txBody>
      </p:sp>
    </p:spTree>
    <p:extLst>
      <p:ext uri="{BB962C8B-B14F-4D97-AF65-F5344CB8AC3E}">
        <p14:creationId xmlns:p14="http://schemas.microsoft.com/office/powerpoint/2010/main" val="2705647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ED115F-E415-49EC-A42A-869BC24BDA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784" y="2827167"/>
            <a:ext cx="3421265" cy="1709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F485A-30C4-4C07-8C26-C3DF9E78F05E}"/>
              </a:ext>
            </a:extLst>
          </p:cNvPr>
          <p:cNvSpPr txBox="1"/>
          <p:nvPr/>
        </p:nvSpPr>
        <p:spPr>
          <a:xfrm>
            <a:off x="8361482" y="1744338"/>
            <a:ext cx="3421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Allocation Difference Result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B1F5C7-08E5-4F5E-A03E-98D22B55A2CC}"/>
              </a:ext>
            </a:extLst>
          </p:cNvPr>
          <p:cNvSpPr txBox="1"/>
          <p:nvPr/>
        </p:nvSpPr>
        <p:spPr>
          <a:xfrm>
            <a:off x="8361481" y="4665325"/>
            <a:ext cx="3421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mus</a:t>
            </a: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improve the explanation. The explanation Pontius wrote in version 10 of the manuscript is poor.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temporal allocation difference, which we could call an alternation difference.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positive if and only if (y&gt;x at one time point and x&gt;y at a different time point)</a:t>
            </a:r>
            <a:r>
              <a:rPr lang="en-US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201C9-97A8-484D-8E88-494706CBDCB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7EC06-FBF0-4B6C-B062-278DB1C5D281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6 for left pixel and 6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392899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ACD28C4-BB0D-4679-AB5B-20C965C71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91" y="2827168"/>
            <a:ext cx="3414097" cy="1709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745E3-7E91-4B5E-B575-5295CD06C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27168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91955E-0663-4BB1-A23D-0934D1041D5B}"/>
              </a:ext>
            </a:extLst>
          </p:cNvPr>
          <p:cNvSpPr txBox="1"/>
          <p:nvPr/>
        </p:nvSpPr>
        <p:spPr>
          <a:xfrm>
            <a:off x="7754815" y="4856058"/>
            <a:ext cx="4556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hope you meant to write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y than in x.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values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more total presence in series x than in y.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E7A820-6CAF-4843-B970-0BC8C754A23C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-7 for left pixel and 6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246851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C8048-2FEE-4BD8-A161-51EC6AB6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784" y="2845632"/>
            <a:ext cx="3414097" cy="1709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27AF4C-D228-4506-AF00-C0A7B042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852854"/>
            <a:ext cx="3421266" cy="1709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81D5C-37EE-4552-B5C5-DF91A49FB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70" y="2827167"/>
            <a:ext cx="3421266" cy="1709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BCFB9-EF86-4961-8491-58B482B2A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70" y="4801480"/>
            <a:ext cx="3421266" cy="1709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3EF709-4695-4B7B-94D7-47F0511D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500" y="836149"/>
            <a:ext cx="3421266" cy="1709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42D59-E7FA-4BF2-9BF1-06E53C163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7500" y="2827167"/>
            <a:ext cx="3421265" cy="17094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37439E-5313-4425-A3F2-A02C17C27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500" y="4801480"/>
            <a:ext cx="3421266" cy="17094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9857F4-6070-41A4-AA1D-52028B1E3009}"/>
              </a:ext>
            </a:extLst>
          </p:cNvPr>
          <p:cNvSpPr txBox="1"/>
          <p:nvPr/>
        </p:nvSpPr>
        <p:spPr>
          <a:xfrm>
            <a:off x="993530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5B1E10-B0CE-481B-9824-85780E057B4A}"/>
              </a:ext>
            </a:extLst>
          </p:cNvPr>
          <p:cNvSpPr txBox="1"/>
          <p:nvPr/>
        </p:nvSpPr>
        <p:spPr>
          <a:xfrm>
            <a:off x="2663363" y="1245907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F4513-AB9A-45A3-BA53-4D8FF6E5E9F1}"/>
              </a:ext>
            </a:extLst>
          </p:cNvPr>
          <p:cNvSpPr txBox="1"/>
          <p:nvPr/>
        </p:nvSpPr>
        <p:spPr>
          <a:xfrm>
            <a:off x="993530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BEE1E-4AAD-4F1C-8B0D-2D3D49B84E27}"/>
              </a:ext>
            </a:extLst>
          </p:cNvPr>
          <p:cNvSpPr txBox="1"/>
          <p:nvPr/>
        </p:nvSpPr>
        <p:spPr>
          <a:xfrm>
            <a:off x="2663363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9564D-5867-4364-A064-E180EA4116C0}"/>
              </a:ext>
            </a:extLst>
          </p:cNvPr>
          <p:cNvSpPr txBox="1"/>
          <p:nvPr/>
        </p:nvSpPr>
        <p:spPr>
          <a:xfrm>
            <a:off x="993530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5B351-1C6F-4A4D-B2B2-039B10158F2D}"/>
              </a:ext>
            </a:extLst>
          </p:cNvPr>
          <p:cNvSpPr txBox="1"/>
          <p:nvPr/>
        </p:nvSpPr>
        <p:spPr>
          <a:xfrm>
            <a:off x="2663363" y="5150428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C38B8-4C48-41D0-B40D-92C08D03A517}"/>
              </a:ext>
            </a:extLst>
          </p:cNvPr>
          <p:cNvSpPr txBox="1"/>
          <p:nvPr/>
        </p:nvSpPr>
        <p:spPr>
          <a:xfrm>
            <a:off x="4539761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CB6301-0E15-40EE-9BDA-5BE9FDCA94F1}"/>
              </a:ext>
            </a:extLst>
          </p:cNvPr>
          <p:cNvSpPr txBox="1"/>
          <p:nvPr/>
        </p:nvSpPr>
        <p:spPr>
          <a:xfrm>
            <a:off x="6209594" y="1209213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BD8DF-FC82-4A41-8734-2514DA97658A}"/>
              </a:ext>
            </a:extLst>
          </p:cNvPr>
          <p:cNvSpPr txBox="1"/>
          <p:nvPr/>
        </p:nvSpPr>
        <p:spPr>
          <a:xfrm>
            <a:off x="453976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7A3C20-B619-44FB-B883-AB20D04328A6}"/>
              </a:ext>
            </a:extLst>
          </p:cNvPr>
          <p:cNvSpPr txBox="1"/>
          <p:nvPr/>
        </p:nvSpPr>
        <p:spPr>
          <a:xfrm>
            <a:off x="6209594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FBEAA-CED7-45CC-83F3-220AC1639C3D}"/>
              </a:ext>
            </a:extLst>
          </p:cNvPr>
          <p:cNvSpPr txBox="1"/>
          <p:nvPr/>
        </p:nvSpPr>
        <p:spPr>
          <a:xfrm>
            <a:off x="4539761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DF799-20B4-4468-B636-F350E736F8B0}"/>
              </a:ext>
            </a:extLst>
          </p:cNvPr>
          <p:cNvSpPr txBox="1"/>
          <p:nvPr/>
        </p:nvSpPr>
        <p:spPr>
          <a:xfrm>
            <a:off x="6209594" y="5170372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1984F3-9733-48E0-B78F-679E9448A73F}"/>
              </a:ext>
            </a:extLst>
          </p:cNvPr>
          <p:cNvSpPr txBox="1"/>
          <p:nvPr/>
        </p:nvSpPr>
        <p:spPr>
          <a:xfrm>
            <a:off x="-93308" y="140926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E86DD5-E6E8-4811-9178-DA031376CA20}"/>
              </a:ext>
            </a:extLst>
          </p:cNvPr>
          <p:cNvSpPr txBox="1"/>
          <p:nvPr/>
        </p:nvSpPr>
        <p:spPr>
          <a:xfrm>
            <a:off x="4539761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series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B1A2E-A6AB-49AD-B964-4D8CF45C567F}"/>
              </a:ext>
            </a:extLst>
          </p:cNvPr>
          <p:cNvSpPr txBox="1"/>
          <p:nvPr/>
        </p:nvSpPr>
        <p:spPr>
          <a:xfrm>
            <a:off x="1118495" y="322314"/>
            <a:ext cx="256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series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32C042-B168-478A-BD59-64B1CE16EE7F}"/>
              </a:ext>
            </a:extLst>
          </p:cNvPr>
          <p:cNvSpPr txBox="1"/>
          <p:nvPr/>
        </p:nvSpPr>
        <p:spPr>
          <a:xfrm>
            <a:off x="-93308" y="3365616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B89A79-691F-4DF0-81E7-DA420CDB2FF4}"/>
              </a:ext>
            </a:extLst>
          </p:cNvPr>
          <p:cNvSpPr txBox="1"/>
          <p:nvPr/>
        </p:nvSpPr>
        <p:spPr>
          <a:xfrm>
            <a:off x="-93308" y="5394588"/>
            <a:ext cx="75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DE480A-8658-4989-B5A2-93D583AC2041}"/>
              </a:ext>
            </a:extLst>
          </p:cNvPr>
          <p:cNvSpPr txBox="1"/>
          <p:nvPr/>
        </p:nvSpPr>
        <p:spPr>
          <a:xfrm>
            <a:off x="8921368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065500-46B0-43D9-95C9-8CFB59B0C50F}"/>
              </a:ext>
            </a:extLst>
          </p:cNvPr>
          <p:cNvSpPr txBox="1"/>
          <p:nvPr/>
        </p:nvSpPr>
        <p:spPr>
          <a:xfrm>
            <a:off x="10591201" y="3165561"/>
            <a:ext cx="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B034B-934E-42D8-90F3-F3F138E0F919}"/>
              </a:ext>
            </a:extLst>
          </p:cNvPr>
          <p:cNvSpPr txBox="1"/>
          <p:nvPr/>
        </p:nvSpPr>
        <p:spPr>
          <a:xfrm>
            <a:off x="8361481" y="685800"/>
            <a:ext cx="220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9E477C-4E94-4AD8-BFC1-A09F68A006FD}"/>
              </a:ext>
            </a:extLst>
          </p:cNvPr>
          <p:cNvSpPr txBox="1"/>
          <p:nvPr/>
        </p:nvSpPr>
        <p:spPr>
          <a:xfrm>
            <a:off x="8361482" y="1744338"/>
            <a:ext cx="34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DA2A72-2D11-4372-8C80-F3FD154BC774}"/>
              </a:ext>
            </a:extLst>
          </p:cNvPr>
          <p:cNvSpPr txBox="1"/>
          <p:nvPr/>
        </p:nvSpPr>
        <p:spPr>
          <a:xfrm>
            <a:off x="8254402" y="1178532"/>
            <a:ext cx="371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Pontius gets</a:t>
            </a:r>
          </a:p>
          <a:p>
            <a:r>
              <a:rPr lang="en-US" dirty="0">
                <a:solidFill>
                  <a:srgbClr val="FF0000"/>
                </a:solidFill>
              </a:rPr>
              <a:t>0 for left pixel and 0 for right pixel </a:t>
            </a:r>
          </a:p>
        </p:txBody>
      </p:sp>
    </p:spTree>
    <p:extLst>
      <p:ext uri="{BB962C8B-B14F-4D97-AF65-F5344CB8AC3E}">
        <p14:creationId xmlns:p14="http://schemas.microsoft.com/office/powerpoint/2010/main" val="148018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20DA2A72-2D11-4372-8C80-F3FD154BC774}"/>
              </a:ext>
            </a:extLst>
          </p:cNvPr>
          <p:cNvSpPr txBox="1"/>
          <p:nvPr/>
        </p:nvSpPr>
        <p:spPr>
          <a:xfrm>
            <a:off x="621568" y="616677"/>
            <a:ext cx="81470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Pontius gets the following computing with pencil and paper.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49	Left pixel = 2,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50	Left pixel = -2, Right pixel = -1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51	Left pixel = 6,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52	Left pixel = 2, Right pixel = 2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53	Left pixel = -7, Right pixel =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Equation 54	Left pixel = 0, Right pixel = 0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Antonio, you should first do this with pencil and paper to see whether you get the same results as me.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Then see whether your code gets the results of both of us.</a:t>
            </a:r>
          </a:p>
        </p:txBody>
      </p:sp>
    </p:spTree>
    <p:extLst>
      <p:ext uri="{BB962C8B-B14F-4D97-AF65-F5344CB8AC3E}">
        <p14:creationId xmlns:p14="http://schemas.microsoft.com/office/powerpoint/2010/main" val="358995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521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18</cp:revision>
  <dcterms:created xsi:type="dcterms:W3CDTF">2025-10-10T15:54:03Z</dcterms:created>
  <dcterms:modified xsi:type="dcterms:W3CDTF">2025-10-16T14:00:53Z</dcterms:modified>
</cp:coreProperties>
</file>