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7" r:id="rId2"/>
    <p:sldId id="290" r:id="rId3"/>
    <p:sldId id="291" r:id="rId4"/>
    <p:sldId id="292" r:id="rId5"/>
    <p:sldId id="293" r:id="rId6"/>
    <p:sldId id="294" r:id="rId7"/>
    <p:sldId id="295" r:id="rId8"/>
    <p:sldId id="278" r:id="rId9"/>
    <p:sldId id="279" r:id="rId10"/>
    <p:sldId id="280" r:id="rId11"/>
    <p:sldId id="281" r:id="rId12"/>
    <p:sldId id="282" r:id="rId13"/>
    <p:sldId id="283" r:id="rId14"/>
    <p:sldId id="269" r:id="rId15"/>
    <p:sldId id="284" r:id="rId16"/>
    <p:sldId id="285" r:id="rId17"/>
    <p:sldId id="286" r:id="rId18"/>
    <p:sldId id="287" r:id="rId19"/>
    <p:sldId id="288" r:id="rId20"/>
    <p:sldId id="289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lvao da Fonseca, Antonio" initials="GdFA" lastIdx="4" clrIdx="0">
    <p:extLst>
      <p:ext uri="{19B8F6BF-5375-455C-9EA6-DF929625EA0E}">
        <p15:presenceInfo xmlns:p15="http://schemas.microsoft.com/office/powerpoint/2012/main" userId="S::AntFonseca@clarku.edu::125af482-5f22-444f-ad99-716919bceb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9T18:19:59.314" idx="3">
    <p:pos x="6182" y="2029"/>
    <p:text>Is higher when there is no change in X and loss in Y?</p:text>
    <p:extLst>
      <p:ext uri="{C676402C-5697-4E1C-873F-D02D1690AC5C}">
        <p15:threadingInfo xmlns:p15="http://schemas.microsoft.com/office/powerpoint/2012/main" timeZoneBias="240"/>
      </p:ext>
    </p:extLst>
  </p:cm>
  <p:cm authorId="1" dt="2025-10-29T18:20:30.330" idx="4">
    <p:pos x="6182" y="2547"/>
    <p:text>Same here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9T18:19:59.314" idx="1">
    <p:pos x="6182" y="2029"/>
    <p:text>Is higher when there is no change in X and loss in Y?</p:text>
    <p:extLst>
      <p:ext uri="{C676402C-5697-4E1C-873F-D02D1690AC5C}">
        <p15:threadingInfo xmlns:p15="http://schemas.microsoft.com/office/powerpoint/2012/main" timeZoneBias="240"/>
      </p:ext>
    </p:extLst>
  </p:cm>
  <p:cm authorId="1" dt="2025-10-29T18:20:30.330" idx="2">
    <p:pos x="6182" y="2547"/>
    <p:text>Same here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CE4C4-5896-4426-BACC-815CF17528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4132E-B102-45BB-8281-2DB4DBDC6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0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+2 = Gain in X and Loss in Y (2-(-1))</a:t>
            </a:r>
          </a:p>
          <a:p>
            <a:r>
              <a:rPr lang="en-US" dirty="0"/>
              <a:t>+1 = Gain in X and Y does not change. Or X does not change and Y loss. (1-0) and (0-(-1))</a:t>
            </a:r>
          </a:p>
          <a:p>
            <a:r>
              <a:rPr lang="en-US" dirty="0"/>
              <a:t>0= no change or both change in the same direction.</a:t>
            </a:r>
          </a:p>
          <a:p>
            <a:r>
              <a:rPr lang="en-US" dirty="0"/>
              <a:t>-1=Loss in X and no change in Y. X does not change and Gain in Y. (-1-0) and (0-1)</a:t>
            </a:r>
          </a:p>
          <a:p>
            <a:r>
              <a:rPr lang="en-US" dirty="0"/>
              <a:t>-2=Loss in X and Gain in Y. (-1-(1))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4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Gain=+1</a:t>
            </a:r>
            <a:br>
              <a:rPr lang="en-US" dirty="0"/>
            </a:br>
            <a:r>
              <a:rPr lang="en-US" dirty="0"/>
              <a:t>Loss = -1</a:t>
            </a:r>
            <a:br>
              <a:rPr lang="en-US" dirty="0"/>
            </a:br>
            <a:r>
              <a:rPr lang="en-US" dirty="0"/>
              <a:t>No change =0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63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+2 = Gain in X and Loss in Y (2-(-1))</a:t>
            </a:r>
          </a:p>
          <a:p>
            <a:r>
              <a:rPr lang="en-US" dirty="0"/>
              <a:t>+1 = Gain in X and Y does not change. Or X does not change and Y loss. (1-0) and (0-(-1))</a:t>
            </a:r>
          </a:p>
          <a:p>
            <a:r>
              <a:rPr lang="en-US" dirty="0"/>
              <a:t>0= no change or both change in the same direction.</a:t>
            </a:r>
          </a:p>
          <a:p>
            <a:r>
              <a:rPr lang="en-US" dirty="0"/>
              <a:t>-1=Loss in X and no change in Y. X does not change and Gain in Y. (-1-0) and (0-1)</a:t>
            </a:r>
          </a:p>
          <a:p>
            <a:r>
              <a:rPr lang="en-US" dirty="0"/>
              <a:t>-2=Loss in X and Gain in Y. (-1-(1))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7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Gain=+1</a:t>
            </a:r>
            <a:br>
              <a:rPr lang="en-US" dirty="0"/>
            </a:br>
            <a:r>
              <a:rPr lang="en-US" dirty="0"/>
              <a:t>Loss = -1</a:t>
            </a:r>
            <a:br>
              <a:rPr lang="en-US" dirty="0"/>
            </a:br>
            <a:r>
              <a:rPr lang="en-US" dirty="0"/>
              <a:t>No change =0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3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EEA-4A62-40C8-BB49-DB1279E7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50873-FA8E-4D31-95C0-7516D430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A6D4-05A0-484C-8EC6-0BA91CAC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ABB3A-080B-43CC-90C9-E48FC4D4372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15AC-DDEF-4C9D-A200-7C53EBDD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5C34-1000-41DA-94B8-BE28DB96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6C94-9B47-4554-A980-81C0F4C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BA46-6CAF-4559-83F6-710EC75E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69DA-E8B2-4B59-8FA6-F609D41E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6750-84E8-437B-BA55-2064CB0CF43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3D86-1E63-481E-8C06-F260D10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D306-3700-400B-8868-AC245097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8D8B-E1A4-4C65-8960-127CB1B1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A0B8-5E30-437C-9167-992462562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FF45-3BF4-4BF6-8D26-87F479C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4CDE-964A-483C-BA2D-95C5D43F8DC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A9B2-051C-4562-ABA6-7F827D35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AF916-A686-499C-9108-EF989E90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CF68-5383-42DF-9936-37111EB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182F-21DC-4958-9C08-74986AD2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D88FE-5D42-4BC9-8AFF-61D52596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6D5D-60CA-4D52-873C-42E9C269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5D2-F412-4AB9-A2C6-35359F9BA1C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D2DD6-D635-4A60-A033-37988F1D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7ED60-892C-441F-866E-CDF94C3E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00A2-9E26-4DE5-AB1A-F2382DE6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B6545-8AA2-4DD0-8D30-B32CDD82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D7F03-8803-44A8-9BF5-3F955E836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657D9-F6ED-41BD-8E0B-995A56136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3B35B-00E9-41E7-8F6A-0A7C2B535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97771-53EC-4FB1-AFDA-74596E8E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8ECB-F4C4-4B30-B4D6-DD0F15F018C5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7C9FC-063B-43C7-9BD3-78A1EDC1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ABB8A-106B-4D4B-805D-2873DAC2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7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CB8-D132-4622-9777-66FAA5B9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D61D6-10D6-4336-B2B1-BE2436F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2DBA-7C12-4999-9BEE-7615F2E0A6CC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EF5BC-CC41-4DE8-BFCA-77CB5619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07112-0026-4DE9-ACEB-3148ED0A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14C7-CB94-48C6-8968-BFBCE737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9FA5-525D-4324-98C8-0ED1D83B046A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26A7B-FFE6-4CFD-95F6-86B99E2F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5B7B-2FD1-4A9D-BDA7-D75F0813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FE7E-2F22-422C-BBE1-5722CD04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A230-D0E3-4C63-902D-C7704415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3F1E-8766-4567-B771-2A573567E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C84E-69C0-4E55-9626-264D9A25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51B4-3409-4B73-9E8A-C91F391D7429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0254-6F0E-41EF-90AF-2D548992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888E-B2D9-417D-9751-66ABE128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F880-03E2-42F8-82EF-DE5C5C02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089BF-4B97-4D97-8065-1381AC19A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F8AD3-BF12-4F08-BD06-BB56AED4F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48938-8107-43F4-8660-CA7EFFE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313A-39A8-4B3D-AEB2-DEF34F2617B4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F6582-EDE2-480C-B5C6-E7902EB9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64EE6-2C5A-4659-BEDE-91D6CAF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A266-AB33-4C1A-9ABB-69704908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CF692-9377-4235-8479-F1B3EF075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344-E75F-41D2-BE9D-A75EE870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94C8C-67AA-4A84-9D0A-402329E3796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618DC-BBA9-434B-B285-108C052F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B04B-AFD9-4752-9304-1165AEDB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25ECF-6FE1-48EF-931F-6BB615C00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8405D-CA82-4540-B215-EFC332C42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DB30-9D31-4F9B-8F4D-385DF07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8BEF-598C-4015-ABE1-D56E6877D73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35B5-A0FF-4EA0-98B8-9A903C89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ABAF-5FC0-4126-A67F-AD84F617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FF56A-454D-4080-AF5F-EF2976D1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A134-F6F3-4CE4-9CEC-CD1D73C8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CA42-60E5-4C15-AC95-F39FA213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A3BF3-6D5D-4665-B3E0-2909FCF356E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7616-0838-4A23-8D81-75B3272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0D88-8B1B-4880-A0F6-24536DB5D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comments" Target="../comments/comment1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comments" Target="../comments/comment2.xml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040E5-A490-4A7E-8FCD-565D94AE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3AE17-2DF9-4348-AF2E-6B069E5C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made the raster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made the maps.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X=pixel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Y=object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2010, 2012, 2014, 2016, 2018, 2021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F9749-A2C9-46C0-9357-CF91010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3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CCDDCF-C323-4A3E-A546-F3825B1F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87" y="1690688"/>
            <a:ext cx="8360649" cy="49011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3800E-1F6B-49FF-BAF1-EAE21EF2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5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99A8C-76DA-47D5-91CD-3011B409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825" y="1482354"/>
            <a:ext cx="5943274" cy="52395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3E0D5C-2BE0-4E2A-BA24-EBE8E337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8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E1ED8A-92B7-4207-8409-610C07CDA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24" y="1188720"/>
            <a:ext cx="10194025" cy="44805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86E4B-1DD5-45DE-B5B5-7F48273A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87AAE0-6A3A-4156-AB2B-6FEC13CC2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60" y="785256"/>
            <a:ext cx="9009725" cy="52852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51075-3EA2-4A83-BA73-05C7F99C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9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FF3A57-40EC-482B-975C-F45D18D22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64" y="1188720"/>
            <a:ext cx="10200872" cy="44805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4B542-1715-4435-A11D-44BA6693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F2F7BD-AE59-40F1-9769-871C00FE4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137" y="786384"/>
            <a:ext cx="9009725" cy="52852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1A95F-A3A0-4AF8-8193-8BE59D9B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0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EDA2-221C-4258-AC0A-BCF87314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30" cy="5552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170C2-6721-40E2-BEF9-00F471F201B1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means both maps mapped that pixel present the same time point.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how many times the two maps registered a Hit at that location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values mean many Hits through time in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nonzero values mean only a few Hits through time in that pixel.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/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60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2F426A-8AA6-43D8-AA51-BFE5F0EB0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29" cy="555276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362AD-3767-4A14-A7A9-650D5C3FE666}"/>
              </a:ext>
            </a:extLst>
          </p:cNvPr>
          <p:cNvSpPr txBox="1"/>
          <p:nvPr/>
        </p:nvSpPr>
        <p:spPr>
          <a:xfrm>
            <a:off x="8792308" y="404446"/>
            <a:ext cx="3248507" cy="366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the cumulative difference in presence between the two maps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time series marked presence the same number of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legend from positive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/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70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CA3A0D-3DCA-4876-B7BF-F25B67916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29" cy="555276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1A08D-F4F1-478F-8F48-312A32980186}"/>
              </a:ext>
            </a:extLst>
          </p:cNvPr>
          <p:cNvSpPr txBox="1"/>
          <p:nvPr/>
        </p:nvSpPr>
        <p:spPr>
          <a:xfrm>
            <a:off x="8792308" y="2760788"/>
            <a:ext cx="3248507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temporal allocation difference at each pixel across time points, after removing net extent difference.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/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87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83D918-378A-4A61-B4DF-34E1D3F91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28" cy="555276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FB5EE-3E5D-4E81-A59A-62AF7893B41A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reports, for each pixel, how many time intervals show a change hit.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interval, count one when both series gain at the pixel. Count one when both series lose at that pixel. Otherwise count zero.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the series never change in the same direction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/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5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951542-3957-4A67-BE67-006D38B90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28" cy="555276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F64D3-10A9-4BCD-96EE-3D83CCBE54F4}"/>
              </a:ext>
            </a:extLst>
          </p:cNvPr>
          <p:cNvSpPr txBox="1"/>
          <p:nvPr/>
        </p:nvSpPr>
        <p:spPr>
          <a:xfrm>
            <a:off x="8792308" y="2083777"/>
            <a:ext cx="3248507" cy="310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net extent difference between the first and last time point at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(gained more or lost less).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series share the same start-end state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/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729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39A6EC-1B69-44CE-8D31-CB9A5246B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7136"/>
            <a:ext cx="6403227" cy="555276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0ED63-EDA7-4D53-881C-C8D0E952DC9B}"/>
              </a:ext>
            </a:extLst>
          </p:cNvPr>
          <p:cNvSpPr txBox="1"/>
          <p:nvPr/>
        </p:nvSpPr>
        <p:spPr>
          <a:xfrm>
            <a:off x="8792308" y="2083777"/>
            <a:ext cx="324850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change absolute difference summed across time intervals for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these statements true to equation 54?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0 when both gain, both lose, or both stay stables.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core1 when one changes and the other stays stable.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2 when one gains while the other loses.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/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397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040E5-A490-4A7E-8FCD-565D94AE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3AE17-2DF9-4348-AF2E-6B069E5C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2.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made the raster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made the maps.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X=pixel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Y=object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2010, 2012, 2014, 2016, 2018, 2021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F9749-A2C9-46C0-9357-CF91010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2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31F703-F458-49C9-863F-A48E8DC59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75" y="1631707"/>
            <a:ext cx="8360649" cy="49011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3800E-1F6B-49FF-BAF1-EAE21EF2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6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463758-BB0F-4381-BEBA-17998F58D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825" y="1443248"/>
            <a:ext cx="5943274" cy="52395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3E0D5C-2BE0-4E2A-BA24-EBE8E337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58102A-01A9-48C0-B73B-04D5ECE0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9" y="1188720"/>
            <a:ext cx="10194025" cy="44805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86E4B-1DD5-45DE-B5B5-7F48273A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4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AC38F9-1F90-4AFF-B4AD-A52F7AF8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137" y="786384"/>
            <a:ext cx="9009725" cy="52852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51075-3EA2-4A83-BA73-05C7F99C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1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60E6FF3-E357-4312-BA2F-5696F439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64" y="1188720"/>
            <a:ext cx="10200872" cy="44805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4B542-1715-4435-A11D-44BA6693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5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9B3098-CA8B-4059-981D-497D6CD58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137" y="786384"/>
            <a:ext cx="9009725" cy="52852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1A95F-A3A0-4AF8-8193-8BE59D9B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36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EDA2-221C-4258-AC0A-BCF87314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170C2-6721-40E2-BEF9-00F471F201B1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means both maps mapped that pixel present the same time point.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how many times the two maps registered a Hit at that location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values mean many Hits through time in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nonzero values mean only a few Hits through time in that pixel.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/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648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86C4DC-9C2D-4BFC-9635-5331A3FA2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E362AD-3767-4A14-A7A9-650D5C3FE666}"/>
              </a:ext>
            </a:extLst>
          </p:cNvPr>
          <p:cNvSpPr txBox="1"/>
          <p:nvPr/>
        </p:nvSpPr>
        <p:spPr>
          <a:xfrm>
            <a:off x="8792308" y="404446"/>
            <a:ext cx="3248507" cy="366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the cumulative difference in presence between the two maps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time series marked presence the same number of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legend from positive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/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7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664F5-F1B0-4808-8EBB-A90667143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1A08D-F4F1-478F-8F48-312A32980186}"/>
              </a:ext>
            </a:extLst>
          </p:cNvPr>
          <p:cNvSpPr txBox="1"/>
          <p:nvPr/>
        </p:nvSpPr>
        <p:spPr>
          <a:xfrm>
            <a:off x="8792308" y="2760788"/>
            <a:ext cx="3248507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temporal allocation difference at each pixel across time points, after removing net extent difference.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/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445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8DCE-2BF0-46A2-A2E8-6A47DB77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FB5EE-3E5D-4E81-A59A-62AF7893B41A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reports, for each pixel, how many time intervals show a change hit.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interval, count one when both series gain at the pixel. Count one when both series lose at that pixel. Otherwise count zero.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the series never change in the same direction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/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33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51CE-BCE5-422A-A29F-249FDF895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DF64D3-10A9-4BCD-96EE-3D83CCBE54F4}"/>
              </a:ext>
            </a:extLst>
          </p:cNvPr>
          <p:cNvSpPr txBox="1"/>
          <p:nvPr/>
        </p:nvSpPr>
        <p:spPr>
          <a:xfrm>
            <a:off x="8792308" y="2083777"/>
            <a:ext cx="3248507" cy="310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net extent difference between the first and last time point at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(gained more or lost less).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series share the same start-end state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/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40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EBB3C-1609-4D57-B61D-6C409C6E4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60ED63-EDA7-4D53-881C-C8D0E952DC9B}"/>
              </a:ext>
            </a:extLst>
          </p:cNvPr>
          <p:cNvSpPr txBox="1"/>
          <p:nvPr/>
        </p:nvSpPr>
        <p:spPr>
          <a:xfrm>
            <a:off x="8792308" y="2083777"/>
            <a:ext cx="324850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change absolute difference summed across time intervals for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these statements true to equation 54?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0 when both gain, both lose, or both stay stables.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core1 when one changes and the other stays stable.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2 when one gains while the other loses.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/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20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1088</Words>
  <Application>Microsoft Office PowerPoint</Application>
  <PresentationFormat>Widescreen</PresentationFormat>
  <Paragraphs>124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Office Theme</vt:lpstr>
      <vt:lpstr>PIE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Equation 49 </vt:lpstr>
      <vt:lpstr>Equation 50</vt:lpstr>
      <vt:lpstr>Equation 51</vt:lpstr>
      <vt:lpstr>Equation 52</vt:lpstr>
      <vt:lpstr>Equation 53</vt:lpstr>
      <vt:lpstr>Equation 54</vt:lpstr>
      <vt:lpstr>PIE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Equation 49 </vt:lpstr>
      <vt:lpstr>Equation 50</vt:lpstr>
      <vt:lpstr>Equation 51</vt:lpstr>
      <vt:lpstr>Equation 52</vt:lpstr>
      <vt:lpstr>Equation 53</vt:lpstr>
      <vt:lpstr>Equation 54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 data</dc:title>
  <dc:creator>Galvao da Fonseca, Antonio</dc:creator>
  <cp:lastModifiedBy>Galvao da Fonseca, Antonio</cp:lastModifiedBy>
  <cp:revision>95</cp:revision>
  <dcterms:created xsi:type="dcterms:W3CDTF">2025-10-28T16:18:41Z</dcterms:created>
  <dcterms:modified xsi:type="dcterms:W3CDTF">2025-11-05T03:23:31Z</dcterms:modified>
</cp:coreProperties>
</file>