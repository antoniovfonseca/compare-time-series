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77" r:id="rId2"/>
    <p:sldId id="278" r:id="rId3"/>
    <p:sldId id="279" r:id="rId4"/>
    <p:sldId id="280" r:id="rId5"/>
    <p:sldId id="281" r:id="rId6"/>
    <p:sldId id="282" r:id="rId7"/>
    <p:sldId id="283" r:id="rId8"/>
    <p:sldId id="269" r:id="rId9"/>
    <p:sldId id="284" r:id="rId10"/>
    <p:sldId id="285" r:id="rId11"/>
    <p:sldId id="286" r:id="rId12"/>
    <p:sldId id="287" r:id="rId13"/>
    <p:sldId id="288" r:id="rId14"/>
    <p:sldId id="289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lvao da Fonseca, Antonio" initials="GdFA" lastIdx="4" clrIdx="0">
    <p:extLst>
      <p:ext uri="{19B8F6BF-5375-455C-9EA6-DF929625EA0E}">
        <p15:presenceInfo xmlns:p15="http://schemas.microsoft.com/office/powerpoint/2012/main" userId="S::AntFonseca@clarku.edu::125af482-5f22-444f-ad99-716919bceb4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23" autoAdjust="0"/>
  </p:normalViewPr>
  <p:slideViewPr>
    <p:cSldViewPr snapToGrid="0">
      <p:cViewPr varScale="1">
        <p:scale>
          <a:sx n="109" d="100"/>
          <a:sy n="109" d="100"/>
        </p:scale>
        <p:origin x="58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29T18:19:59.314" idx="3">
    <p:pos x="6182" y="2029"/>
    <p:text>Is higher when there is no change in X and loss in Y?</p:text>
    <p:extLst>
      <p:ext uri="{C676402C-5697-4E1C-873F-D02D1690AC5C}">
        <p15:threadingInfo xmlns:p15="http://schemas.microsoft.com/office/powerpoint/2012/main" timeZoneBias="240"/>
      </p:ext>
    </p:extLst>
  </p:cm>
  <p:cm authorId="1" dt="2025-10-29T18:20:30.330" idx="4">
    <p:pos x="6182" y="2547"/>
    <p:text>Same here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29T18:19:59.314" idx="1">
    <p:pos x="6182" y="2029"/>
    <p:text>Is higher when there is no change in X and loss in Y?</p:text>
    <p:extLst>
      <p:ext uri="{C676402C-5697-4E1C-873F-D02D1690AC5C}">
        <p15:threadingInfo xmlns:p15="http://schemas.microsoft.com/office/powerpoint/2012/main" timeZoneBias="240"/>
      </p:ext>
    </p:extLst>
  </p:cm>
  <p:cm authorId="1" dt="2025-10-29T18:20:30.330" idx="2">
    <p:pos x="6182" y="2547"/>
    <p:text>Same here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7CE4C4-5896-4426-BACC-815CF1752878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4132E-B102-45BB-8281-2DB4DBDC60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6043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+2 = Gain in X and Loss in Y (2-(-1))</a:t>
            </a:r>
          </a:p>
          <a:p>
            <a:r>
              <a:rPr lang="en-US" dirty="0"/>
              <a:t>+1 = Gain in X and Y does not change. Or X does not change and Y loss. (1-0) and (0-(-1))</a:t>
            </a:r>
          </a:p>
          <a:p>
            <a:r>
              <a:rPr lang="en-US" dirty="0"/>
              <a:t>0= no change or both change in the same direction.</a:t>
            </a:r>
          </a:p>
          <a:p>
            <a:r>
              <a:rPr lang="en-US" dirty="0"/>
              <a:t>-1=Loss in X and no change in Y. X does not change and Gain in Y. (-1-0) and (0-1)</a:t>
            </a:r>
          </a:p>
          <a:p>
            <a:r>
              <a:rPr lang="en-US" dirty="0"/>
              <a:t>-2=Loss in X and Gain in Y. (-1-(1))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34132E-B102-45BB-8281-2DB4DBDC60E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46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Gain=+1</a:t>
            </a:r>
            <a:br>
              <a:rPr lang="en-US" dirty="0"/>
            </a:br>
            <a:r>
              <a:rPr lang="en-US" dirty="0"/>
              <a:t>Loss = -1</a:t>
            </a:r>
            <a:br>
              <a:rPr lang="en-US" dirty="0"/>
            </a:br>
            <a:r>
              <a:rPr lang="en-US" dirty="0"/>
              <a:t>No change =0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34132E-B102-45BB-8281-2DB4DBDC60E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63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+2 = Gain in X and Loss in Y (2-(-1))</a:t>
            </a:r>
          </a:p>
          <a:p>
            <a:r>
              <a:rPr lang="en-US" dirty="0"/>
              <a:t>+1 = Gain in X and Y does not change. Or X does not change and Y loss. (1-0) and (0-(-1))</a:t>
            </a:r>
          </a:p>
          <a:p>
            <a:r>
              <a:rPr lang="en-US" dirty="0"/>
              <a:t>0= no change or both change in the same direction.</a:t>
            </a:r>
          </a:p>
          <a:p>
            <a:r>
              <a:rPr lang="en-US" dirty="0"/>
              <a:t>-1=Loss in X and no change in Y. X does not change and Gain in Y. (-1-0) and (0-1)</a:t>
            </a:r>
          </a:p>
          <a:p>
            <a:r>
              <a:rPr lang="en-US" dirty="0"/>
              <a:t>-2=Loss in X and Gain in Y. (-1-(1))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34132E-B102-45BB-8281-2DB4DBDC60E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117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Gain=+1</a:t>
            </a:r>
            <a:br>
              <a:rPr lang="en-US" dirty="0"/>
            </a:br>
            <a:r>
              <a:rPr lang="en-US" dirty="0"/>
              <a:t>Loss = -1</a:t>
            </a:r>
            <a:br>
              <a:rPr lang="en-US" dirty="0"/>
            </a:br>
            <a:r>
              <a:rPr lang="en-US" dirty="0"/>
              <a:t>No change =0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34132E-B102-45BB-8281-2DB4DBDC60E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34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57EEA-4A62-40C8-BB49-DB1279E78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650873-FA8E-4D31-95C0-7516D4307C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FA6D4-05A0-484C-8EC6-0BA91CAC5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ABB3A-080B-43CC-90C9-E48FC4D4372B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E15AC-DDEF-4C9D-A200-7C53EBDD1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95C34-1000-41DA-94B8-BE28DB965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020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C6C94-9B47-4554-A980-81C0F4C01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3BA46-6CAF-4559-83F6-710EC75E6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569DA-E8B2-4B59-8FA6-F609D41EDA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16750-84E8-437B-BA55-2064CB0CF43E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43D86-1E63-481E-8C06-F260D1030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9D306-3700-400B-8868-AC245097F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633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C8D8B-E1A4-4C65-8960-127CB1B1C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21A0B8-5E30-437C-9167-992462562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0FF45-3BF4-4BF6-8D26-87F479C36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24CDE-964A-483C-BA2D-95C5D43F8DCE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CA9B2-051C-4562-ABA6-7F827D359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AF916-A686-499C-9108-EF989E90B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4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BCF68-5383-42DF-9936-37111EB96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8182F-21DC-4958-9C08-74986AD281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6D88FE-5D42-4BC9-8AFF-61D52596BA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0B6D5D-60CA-4D52-873C-42E9C269A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5D2-F412-4AB9-A2C6-35359F9BA1CF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6D2DD6-D635-4A60-A033-37988F1DA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7ED60-892C-441F-866E-CDF94C3E1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99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F00A2-9E26-4DE5-AB1A-F2382DE6D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FB6545-8AA2-4DD0-8D30-B32CDD823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D7F03-8803-44A8-9BF5-3F955E836B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657D9-F6ED-41BD-8E0B-995A561365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13B35B-00E9-41E7-8F6A-0A7C2B535C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697771-53EC-4FB1-AFDA-74596E8EB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18ECB-F4C4-4B30-B4D6-DD0F15F018C5}" type="datetime1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C7C9FC-063B-43C7-9BD3-78A1EDC1D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BABB8A-106B-4D4B-805D-2873DAC2B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47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61CB8-D132-4622-9777-66FAA5B95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DD61D6-10D6-4336-B2B1-BE2436F41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02DBA-7C12-4999-9BEE-7615F2E0A6CC}" type="datetime1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CEF5BC-CC41-4DE8-BFCA-77CB5619B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307112-0026-4DE9-ACEB-3148ED0A1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703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8014C7-CB94-48C6-8968-BFBCE7377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49FA5-525D-4324-98C8-0ED1D83B046A}" type="datetime1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E26A7B-FFE6-4CFD-95F6-86B99E2F6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E5B7B-2FD1-4A9D-BDA7-D75F0813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570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DFE7E-2F22-422C-BBE1-5722CD04F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A0A230-D0E3-4C63-902D-C77044158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723F1E-8766-4567-B771-2A573567E2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C8C84E-69C0-4E55-9626-264D9A254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B51B4-3409-4B73-9E8A-C91F391D7429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00254-6F0E-41EF-90AF-2D548992B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05888E-B2D9-417D-9751-66ABE128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07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F880-03E2-42F8-82EF-DE5C5C02B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B089BF-4B97-4D97-8065-1381AC19A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DF8AD3-BF12-4F08-BD06-BB56AED4F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48938-8107-43F4-8660-CA7EFFEBC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E2313A-39A8-4B3D-AEB2-DEF34F2617B4}" type="datetime1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5F6582-EDE2-480C-B5C6-E7902EB9B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64EE6-2C5A-4659-BEDE-91D6CAFF5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598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EA266-AB33-4C1A-9ABB-697049087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CF692-9377-4235-8479-F1B3EF075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43344-E75F-41D2-BE9D-A75EE8707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D94C8C-67AA-4A84-9D0A-402329E37964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618DC-BBA9-434B-B285-108C052F7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6B04B-AFD9-4752-9304-1165AEDBD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1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925ECF-6FE1-48EF-931F-6BB615C008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8405D-CA82-4540-B215-EFC332C426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CDB30-9D31-4F9B-8F4D-385DF0781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28BEF-598C-4015-ABE1-D56E6877D735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435B5-A0FF-4EA0-98B8-9A903C89C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AAABAF-5FC0-4126-A67F-AD84F6174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944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BFF56A-454D-4080-AF5F-EF2976D18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DA134-F6F3-4CE4-9CEC-CD1D73C8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DDCA42-60E5-4C15-AC95-F39FA2132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DA3BF3-6D5D-4665-B3E0-2909FCF356E2}" type="datetime1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F7616-0838-4A23-8D81-75B327248A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10D88-8B1B-4880-A0F6-24536DB5D7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B7EF4A-24AD-40B4-BD2D-14812ACD73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882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comments" Target="../comments/commen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comments" Target="../comments/comment2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C040E5-A490-4A7E-8FCD-565D94AE9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63AE17-2DF9-4348-AF2E-6B069E5C5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Zoom 1.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made the raster results.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QGIS made the maps.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X=pixel based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Y=object based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2010, 2012, 2014, 2016, 2018, 2021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1F9749-A2C9-46C0-9357-CF910109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735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49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2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33EDA2-221C-4258-AC0A-BCF873143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30" cy="55527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5170C2-6721-40E2-BEF9-00F471F201B1}"/>
              </a:ext>
            </a:extLst>
          </p:cNvPr>
          <p:cNvSpPr txBox="1"/>
          <p:nvPr/>
        </p:nvSpPr>
        <p:spPr>
          <a:xfrm>
            <a:off x="8792308" y="2083777"/>
            <a:ext cx="3248507" cy="2552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Hit means both maps mapped that pixel present the same time point.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pixel’s value shows how many times the two maps registered a Hit at that location across all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values mean many Hits through time in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nonzero values mean only a few Hits through time in that pixel.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27CE35-7C8C-4DCF-87F0-D643488BB05A}"/>
                  </a:ext>
                </a:extLst>
              </p:cNvPr>
              <p:cNvSpPr txBox="1"/>
              <p:nvPr/>
            </p:nvSpPr>
            <p:spPr>
              <a:xfrm>
                <a:off x="2516460" y="374921"/>
                <a:ext cx="609414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𝑃h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𝑡𝑛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27CE35-7C8C-4DCF-87F0-D643488BB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460" y="374921"/>
                <a:ext cx="609414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5606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202F426A-8AA6-43D8-AA51-BFE5F0EB0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29" cy="5552766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E362AD-3767-4A14-A7A9-650D5C3FE666}"/>
              </a:ext>
            </a:extLst>
          </p:cNvPr>
          <p:cNvSpPr txBox="1"/>
          <p:nvPr/>
        </p:nvSpPr>
        <p:spPr>
          <a:xfrm>
            <a:off x="8792308" y="404446"/>
            <a:ext cx="3248507" cy="3660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pixel’s value shows the cumulative difference in presence between the two maps across all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values mean more total presence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than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values mean more total presence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than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both time series marked presence the same number of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also means absence of the class!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the legend from positive values.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921362-183B-4A12-95A0-31FE3BFB20C6}"/>
                  </a:ext>
                </a:extLst>
              </p:cNvPr>
              <p:cNvSpPr txBox="1"/>
              <p:nvPr/>
            </p:nvSpPr>
            <p:spPr>
              <a:xfrm>
                <a:off x="2698168" y="423095"/>
                <a:ext cx="609414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921362-183B-4A12-95A0-31FE3BFB2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8168" y="423095"/>
                <a:ext cx="609414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1706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6CA3A0D-3DCA-4876-B7BF-F25B67916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29" cy="555276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11A08D-F4F1-478F-8F48-312A32980186}"/>
              </a:ext>
            </a:extLst>
          </p:cNvPr>
          <p:cNvSpPr txBox="1"/>
          <p:nvPr/>
        </p:nvSpPr>
        <p:spPr>
          <a:xfrm>
            <a:off x="8792308" y="2760788"/>
            <a:ext cx="324850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temporal allocation difference at each pixel across time points, after removing net extent difference.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BB665F-F3A9-49A6-9A78-79FBB51E5C8E}"/>
                  </a:ext>
                </a:extLst>
              </p:cNvPr>
              <p:cNvSpPr txBox="1"/>
              <p:nvPr/>
            </p:nvSpPr>
            <p:spPr>
              <a:xfrm>
                <a:off x="2812895" y="254203"/>
                <a:ext cx="6094140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𝑡𝑛</m:t>
                                      </m:r>
                                    </m:sub>
                                  </m:s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BB665F-F3A9-49A6-9A78-79FBB51E5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895" y="254203"/>
                <a:ext cx="6094140" cy="98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8587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83D918-378A-4A61-B4DF-34E1D3F916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28" cy="555276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5FB5EE-3E5D-4E81-A59A-62AF7893B41A}"/>
              </a:ext>
            </a:extLst>
          </p:cNvPr>
          <p:cNvSpPr txBox="1"/>
          <p:nvPr/>
        </p:nvSpPr>
        <p:spPr>
          <a:xfrm>
            <a:off x="8792308" y="2083777"/>
            <a:ext cx="3248507" cy="2552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reports, for each pixel, how many time intervals show a change hit.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a time interval, count one when both series gain at the pixel. Count one when both series lose at that pixel. Otherwise count zero.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the series never change in the same direction at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also means absence of the class!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C11B79-7E66-40AC-A7E2-B75EDA1DD15B}"/>
                  </a:ext>
                </a:extLst>
              </p:cNvPr>
              <p:cNvSpPr txBox="1"/>
              <p:nvPr/>
            </p:nvSpPr>
            <p:spPr>
              <a:xfrm>
                <a:off x="2516460" y="423479"/>
                <a:ext cx="6094140" cy="871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𝐺h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𝐿h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C11B79-7E66-40AC-A7E2-B75EDA1DD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460" y="423479"/>
                <a:ext cx="6094140" cy="8712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253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6951542-3957-4A67-BE67-006D38B90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28" cy="555276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DF64D3-10A9-4BCD-96EE-3D83CCBE54F4}"/>
              </a:ext>
            </a:extLst>
          </p:cNvPr>
          <p:cNvSpPr txBox="1"/>
          <p:nvPr/>
        </p:nvSpPr>
        <p:spPr>
          <a:xfrm>
            <a:off x="8792308" y="2083777"/>
            <a:ext cx="3248507" cy="3106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the net extent difference between the first and last time point at each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values mean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ends </a:t>
            </a:r>
            <a:r>
              <a:rPr lang="en-US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(gained more or lost less).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values mean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ends </a:t>
            </a:r>
            <a:r>
              <a:rPr lang="en-US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both series share the same start-end state at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B8BF23-ACC4-4C79-B2D3-4CA92BEA34C0}"/>
                  </a:ext>
                </a:extLst>
              </p:cNvPr>
              <p:cNvSpPr txBox="1"/>
              <p:nvPr/>
            </p:nvSpPr>
            <p:spPr>
              <a:xfrm>
                <a:off x="3203474" y="732645"/>
                <a:ext cx="6094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𝑇𝑛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𝑃𝑦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𝑇𝑛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B8BF23-ACC4-4C79-B2D3-4CA92BEA3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474" y="732645"/>
                <a:ext cx="6094140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1729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A39A6EC-1B69-44CE-8D31-CB9A5246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7136"/>
            <a:ext cx="6403227" cy="555276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60ED63-EDA7-4D53-881C-C8D0E952DC9B}"/>
              </a:ext>
            </a:extLst>
          </p:cNvPr>
          <p:cNvSpPr txBox="1"/>
          <p:nvPr/>
        </p:nvSpPr>
        <p:spPr>
          <a:xfrm>
            <a:off x="8792308" y="2083777"/>
            <a:ext cx="3248507" cy="2829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the change absolute difference summed across time intervals for each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these statements true to equation 54?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 0 when both gain, both lose, or both stay stables.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core1 when one changes and the other stays stable.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 2 when one gains while the other loses.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3C809-8A2F-4E4A-8A6E-A5CA1D0926D8}"/>
                  </a:ext>
                </a:extLst>
              </p:cNvPr>
              <p:cNvSpPr txBox="1"/>
              <p:nvPr/>
            </p:nvSpPr>
            <p:spPr>
              <a:xfrm>
                <a:off x="3738446" y="365125"/>
                <a:ext cx="6094140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𝑡𝑛</m:t>
                                          </m:r>
                                        </m:sub>
                                      </m:s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𝑡𝑛</m:t>
                                          </m:r>
                                        </m:sub>
                                      </m:s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3C809-8A2F-4E4A-8A6E-A5CA1D092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446" y="365125"/>
                <a:ext cx="6094140" cy="972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3972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C040E5-A490-4A7E-8FCD-565D94AE9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PIE data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63AE17-2DF9-4348-AF2E-6B069E5C5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Zoom 2.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made the raster results.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QGIS made the maps.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X=pixel based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Y=object based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2010, 2012, 2014, 2016, 2018, 2021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1F9749-A2C9-46C0-9357-CF910109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923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021D453-948C-44EF-BE88-63A81F7D1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042" y="2188130"/>
            <a:ext cx="9697916" cy="4533345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50DC8B66-A8C5-4542-BD2D-487140DC7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Points Presence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03800E-1F6B-49FF-BAF1-EAE21EF23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67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3F0B3-A95F-4455-A04E-719E728EA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 Presence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3E0D5C-2BE0-4E2A-BA24-EBE8E337D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A3E799-F50F-4B13-9A47-6DF16C34A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236" y="1861938"/>
            <a:ext cx="5647501" cy="4975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262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9ABED1-D06C-45F5-A990-E17A9FE3D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2908"/>
            <a:ext cx="12192000" cy="53485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92AB1A-24BF-4403-B8C3-9E34FAC9A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F86E4B-1DD5-45DE-B5B5-7F48273A9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341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127B-418B-4087-A290-93AEA8E2A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351075-3EA2-4A83-BA73-05C7F99CD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300E1-EA67-4D85-BB81-F1D8F06D1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078" y="1989391"/>
            <a:ext cx="7600322" cy="436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41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0717E-F44E-433A-B398-5A9CF6E40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A4B542-1715-4435-A11D-44BA6693D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15D09-749A-4EA5-9EEA-927C58B78C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54924"/>
            <a:ext cx="12192000" cy="4483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295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A3D95-8419-4623-9166-D5AE3E0BC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21A95F-A3A0-4AF8-8193-8BE59D9B1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00778B-4220-4C59-9F8C-E6DBDECAD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76" y="2211467"/>
            <a:ext cx="7160848" cy="4144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636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49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15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33EDA2-221C-4258-AC0A-BCF873143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6378"/>
            <a:ext cx="6403230" cy="55542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5170C2-6721-40E2-BEF9-00F471F201B1}"/>
              </a:ext>
            </a:extLst>
          </p:cNvPr>
          <p:cNvSpPr txBox="1"/>
          <p:nvPr/>
        </p:nvSpPr>
        <p:spPr>
          <a:xfrm>
            <a:off x="8792308" y="2083777"/>
            <a:ext cx="3248507" cy="2552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Hit means both maps mapped that pixel present the same time point.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pixel’s value shows how many times the two maps registered a Hit at that location across all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values mean many Hits through time in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 nonzero values mean only a few Hits through time in that pixel.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27CE35-7C8C-4DCF-87F0-D643488BB05A}"/>
                  </a:ext>
                </a:extLst>
              </p:cNvPr>
              <p:cNvSpPr txBox="1"/>
              <p:nvPr/>
            </p:nvSpPr>
            <p:spPr>
              <a:xfrm>
                <a:off x="2516460" y="374921"/>
                <a:ext cx="609414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𝑃h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𝑡𝑛</m:t>
                              </m:r>
                            </m:sub>
                          </m:sSub>
                        </m:e>
                      </m:nary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527CE35-7C8C-4DCF-87F0-D643488BB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460" y="374921"/>
                <a:ext cx="609414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648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86C4DC-9C2D-4BFC-9635-5331A3FA2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6378"/>
            <a:ext cx="6403230" cy="55542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0E362AD-3767-4A14-A7A9-650D5C3FE666}"/>
              </a:ext>
            </a:extLst>
          </p:cNvPr>
          <p:cNvSpPr txBox="1"/>
          <p:nvPr/>
        </p:nvSpPr>
        <p:spPr>
          <a:xfrm>
            <a:off x="8792308" y="404446"/>
            <a:ext cx="3248507" cy="3660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pixel’s value shows the cumulative difference in presence between the two maps across all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values mean more total presence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than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values mean more total presence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than in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both time series marked presence the same number of time points.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also means absence of the class!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the legend from positive values.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921362-183B-4A12-95A0-31FE3BFB20C6}"/>
                  </a:ext>
                </a:extLst>
              </p:cNvPr>
              <p:cNvSpPr txBox="1"/>
              <p:nvPr/>
            </p:nvSpPr>
            <p:spPr>
              <a:xfrm>
                <a:off x="2698168" y="423095"/>
                <a:ext cx="609414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921362-183B-4A12-95A0-31FE3BFB2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8168" y="423095"/>
                <a:ext cx="609414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074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A664F5-F1B0-4808-8EBB-A90667143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5" y="1246378"/>
            <a:ext cx="6403230" cy="555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311A08D-F4F1-478F-8F48-312A32980186}"/>
              </a:ext>
            </a:extLst>
          </p:cNvPr>
          <p:cNvSpPr txBox="1"/>
          <p:nvPr/>
        </p:nvSpPr>
        <p:spPr>
          <a:xfrm>
            <a:off x="8792308" y="2760788"/>
            <a:ext cx="3248507" cy="8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temporal allocation difference at each pixel across time points, after removing net extent difference.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BB665F-F3A9-49A6-9A78-79FBB51E5C8E}"/>
                  </a:ext>
                </a:extLst>
              </p:cNvPr>
              <p:cNvSpPr txBox="1"/>
              <p:nvPr/>
            </p:nvSpPr>
            <p:spPr>
              <a:xfrm>
                <a:off x="2812895" y="254203"/>
                <a:ext cx="6094140" cy="9840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𝑡𝑛</m:t>
                                      </m:r>
                                    </m:sub>
                                  </m:s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𝑃𝑥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BB665F-F3A9-49A6-9A78-79FBB51E5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895" y="254203"/>
                <a:ext cx="6094140" cy="9840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8445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7C8DCE-2BF0-46A2-A2E8-6A47DB77A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6" y="1246378"/>
            <a:ext cx="6403228" cy="5554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5FB5EE-3E5D-4E81-A59A-62AF7893B41A}"/>
              </a:ext>
            </a:extLst>
          </p:cNvPr>
          <p:cNvSpPr txBox="1"/>
          <p:nvPr/>
        </p:nvSpPr>
        <p:spPr>
          <a:xfrm>
            <a:off x="8792308" y="2083777"/>
            <a:ext cx="3248507" cy="2552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reports, for each pixel, how many time intervals show a change hit.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 a time interval, count one when both series gain at the pixel. Count one when both series lose at that pixel. Otherwise count zero.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the series never change in the same direction at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Zero also means absence of the class!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C11B79-7E66-40AC-A7E2-B75EDA1DD15B}"/>
                  </a:ext>
                </a:extLst>
              </p:cNvPr>
              <p:cNvSpPr txBox="1"/>
              <p:nvPr/>
            </p:nvSpPr>
            <p:spPr>
              <a:xfrm>
                <a:off x="2516460" y="423479"/>
                <a:ext cx="6094140" cy="8712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d>
                            <m:d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𝐺h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𝐿h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𝑡𝑛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9C11B79-7E66-40AC-A7E2-B75EDA1DD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6460" y="423479"/>
                <a:ext cx="6094140" cy="8712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33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5B51CE-BCE5-422A-A29F-249FDF895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6" y="1246378"/>
            <a:ext cx="6403228" cy="55542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DF64D3-10A9-4BCD-96EE-3D83CCBE54F4}"/>
              </a:ext>
            </a:extLst>
          </p:cNvPr>
          <p:cNvSpPr txBox="1"/>
          <p:nvPr/>
        </p:nvSpPr>
        <p:spPr>
          <a:xfrm>
            <a:off x="8792308" y="2083777"/>
            <a:ext cx="3248507" cy="3106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the net extent difference between the first and last time point at each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values mean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ends </a:t>
            </a:r>
            <a:r>
              <a:rPr lang="en-US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(gained more or lost less).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values mean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pixel-based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 ends </a:t>
            </a:r>
            <a:r>
              <a:rPr lang="en-US" sz="1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than the </a:t>
            </a:r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object-based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Zero means both series share the same start-end state at that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B8BF23-ACC4-4C79-B2D3-4CA92BEA34C0}"/>
                  </a:ext>
                </a:extLst>
              </p:cNvPr>
              <p:cNvSpPr txBox="1"/>
              <p:nvPr/>
            </p:nvSpPr>
            <p:spPr>
              <a:xfrm>
                <a:off x="3203474" y="732645"/>
                <a:ext cx="6094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𝑇𝑛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𝑃𝑦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𝑇𝑛</m:t>
                              </m:r>
                            </m:sub>
                          </m:sSub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𝑃𝑥</m:t>
                              </m:r>
                            </m:e>
                            <m:sub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B8BF23-ACC4-4C79-B2D3-4CA92BEA3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474" y="732645"/>
                <a:ext cx="6094140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4404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6C26221-B21C-498C-93E3-BCA9A2A9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Equation 54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0D253D-7A0F-4561-B985-78D4E9A72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B7EF4A-24AD-40B4-BD2D-14812ACD731E}" type="slidenum">
              <a:rPr lang="en-US" smtClean="0"/>
              <a:t>20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FEBB3C-1609-4D57-B61D-6C409C6E4D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94386" y="1246378"/>
            <a:ext cx="6403228" cy="55542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60ED63-EDA7-4D53-881C-C8D0E952DC9B}"/>
              </a:ext>
            </a:extLst>
          </p:cNvPr>
          <p:cNvSpPr txBox="1"/>
          <p:nvPr/>
        </p:nvSpPr>
        <p:spPr>
          <a:xfrm>
            <a:off x="8792308" y="2083777"/>
            <a:ext cx="3248507" cy="2829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map shows the change absolute difference summed across time intervals for each pixel.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these statements true to equation 54?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 0 when both gain, both lose, or both stay stables.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core1 when one changes and the other stays stable.</a:t>
            </a:r>
          </a:p>
          <a:p>
            <a:pPr marL="685800" lvl="1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score 2 when one gains while the other loses.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3C809-8A2F-4E4A-8A6E-A5CA1D0926D8}"/>
                  </a:ext>
                </a:extLst>
              </p:cNvPr>
              <p:cNvSpPr txBox="1"/>
              <p:nvPr/>
            </p:nvSpPr>
            <p:spPr>
              <a:xfrm>
                <a:off x="3738446" y="365125"/>
                <a:ext cx="6094140" cy="972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𝑡𝑛</m:t>
                                          </m:r>
                                        </m:sub>
                                      </m:s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𝑃𝑦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𝑡𝑛</m:t>
                                          </m:r>
                                        </m:sub>
                                      </m:s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𝑃𝑥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i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783C809-8A2F-4E4A-8A6E-A5CA1D092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8446" y="365125"/>
                <a:ext cx="6094140" cy="9727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7203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</TotalTime>
  <Words>1087</Words>
  <Application>Microsoft Office PowerPoint</Application>
  <PresentationFormat>Widescreen</PresentationFormat>
  <Paragraphs>120</Paragraphs>
  <Slides>20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Times New Roman</vt:lpstr>
      <vt:lpstr>Office Theme</vt:lpstr>
      <vt:lpstr>PIE data</vt:lpstr>
      <vt:lpstr>Equation 49 </vt:lpstr>
      <vt:lpstr>Equation 50</vt:lpstr>
      <vt:lpstr>Equation 51</vt:lpstr>
      <vt:lpstr>Equation 52</vt:lpstr>
      <vt:lpstr>Equation 53</vt:lpstr>
      <vt:lpstr>Equation 54</vt:lpstr>
      <vt:lpstr>PIE data</vt:lpstr>
      <vt:lpstr>Time Points Presence</vt:lpstr>
      <vt:lpstr>Sum Presence</vt:lpstr>
      <vt:lpstr>PowerPoint Presentation</vt:lpstr>
      <vt:lpstr>PowerPoint Presentation</vt:lpstr>
      <vt:lpstr>PowerPoint Presentation</vt:lpstr>
      <vt:lpstr>PowerPoint Presentation</vt:lpstr>
      <vt:lpstr>Equation 49 </vt:lpstr>
      <vt:lpstr>Equation 50</vt:lpstr>
      <vt:lpstr>Equation 51</vt:lpstr>
      <vt:lpstr>Equation 52</vt:lpstr>
      <vt:lpstr>Equation 53</vt:lpstr>
      <vt:lpstr>Equation 54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Toy data</dc:title>
  <dc:creator>Galvao da Fonseca, Antonio</dc:creator>
  <cp:lastModifiedBy>Galvao da Fonseca, Antonio</cp:lastModifiedBy>
  <cp:revision>80</cp:revision>
  <dcterms:created xsi:type="dcterms:W3CDTF">2025-10-28T16:18:41Z</dcterms:created>
  <dcterms:modified xsi:type="dcterms:W3CDTF">2025-11-04T03:16:35Z</dcterms:modified>
</cp:coreProperties>
</file>